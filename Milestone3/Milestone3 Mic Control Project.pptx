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Caveat"/>
      <p:regular r:id="rId24"/>
      <p:bold r:id="rId25"/>
    </p:embeddedFont>
    <p:embeddedFont>
      <p:font typeface="Urbanist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BCF421-F7A2-4F64-90C6-816AC9B96794}">
  <a:tblStyle styleId="{B3BCF421-F7A2-4F64-90C6-816AC9B967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Caveat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regular.fntdata"/><Relationship Id="rId25" Type="http://schemas.openxmlformats.org/officeDocument/2006/relationships/font" Target="fonts/Caveat-bold.fntdata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7e2b552d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a7e2b552db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7e2b552d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a7e2b552d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7e2b552d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a7e2b552db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7e2b552d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a7e2b552db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7e2b552d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a7e2b552d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7e2b552d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a7e2b552db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7e2b552d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a7e2b552db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7e2b552d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a7e2b552db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7e2b552d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a7e2b552db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7e2b552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a7e2b552d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7e2b552d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a7e2b552db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10" Type="http://schemas.openxmlformats.org/officeDocument/2006/relationships/image" Target="../media/image13.png"/><Relationship Id="rId9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48929"/>
            <a:ext cx="11601600" cy="18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Teams </a:t>
            </a:r>
            <a:endParaRPr b="1" sz="5400">
              <a:solidFill>
                <a:srgbClr val="3B82F6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Mic Control</a:t>
            </a:r>
            <a:br>
              <a:rPr b="1" lang="en-US" sz="5400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97772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technical overview of building a robust Python GUI for Windows Audio Control using Kivy and Pycaw.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00750" y="156063"/>
            <a:ext cx="2381250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383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11261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Control at Your Fingertips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478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71525" y="258886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258886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Global Hotkeys: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Control microphone volume from anywhere in Windows without opening menus.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334134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334134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Visual Feedback: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clean GUI to see current volume and mute status instantly.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409381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4093815"/>
            <a:ext cx="5000625" cy="152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Key Functions: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33450" y="439861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47750" y="4398615"/>
            <a:ext cx="476250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Ctrl+Alt+Up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: Increase Volume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33450" y="485388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47750" y="4853880"/>
            <a:ext cx="476250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Ctrl+Alt+Down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: Decrease Volume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33450" y="530914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47750" y="5309145"/>
            <a:ext cx="476250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Ctrl+Alt+M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: Toggle Mute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Project Goal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835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478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381750" y="214878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Kivy Integration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381750" y="266313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moved from a simple console script to a robust Kivy Application.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581775" y="346323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619875" y="346323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KV Language: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Used for separating logic from design, allowing for a clean "Dark Slate" theme.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581775" y="421570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619875" y="4215705"/>
            <a:ext cx="5000625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Reactive UI: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Progress Bar and Labels update automatically via a </a:t>
            </a:r>
            <a:r>
              <a:rPr b="0" i="0" lang="en-US" sz="1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Clock.schedule_interval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581775" y="497577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619875" y="497577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Status Indicators: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Text turns Red when Muted and Blue when Active.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Implementation: Professional GUI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0200"/>
            <a:ext cx="3492549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600200"/>
            <a:ext cx="3492549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600200"/>
            <a:ext cx="3492549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8954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66775" y="2752725"/>
            <a:ext cx="203025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Main Thread (GUI)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66775" y="3295650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Handles the Visuals. It uses the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Cached Interface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to read volume safely without initializing COM repeatedly.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5074" y="18954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4645074" y="2752725"/>
            <a:ext cx="236029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Background (Hotkeys)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645074" y="3295650"/>
            <a:ext cx="2901999" cy="1107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Hotkeys run on separate threads. We used a custom decorator </a:t>
            </a:r>
            <a:r>
              <a:rPr b="0" i="0" lang="en-US" sz="135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@ensure_com_thread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to handle their specific memory lifecycle.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3374" y="18954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8423374" y="2752725"/>
            <a:ext cx="93011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Stability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423374" y="3295650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This separation ensures that if a hotkey gets stuck, it doesn't freeze the GUI, and vice versa.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5837" y="20383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4137" y="20383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66249" y="20383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Deep Dive: Thread Safety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0737"/>
            <a:ext cx="5238750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39267"/>
            <a:ext cx="5238750" cy="340801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66775" y="2386012"/>
            <a:ext cx="48806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Volume Logic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66775" y="2900362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read the scalar volume (0.0 to 1.0) and convert it to percentage.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677025" y="2534542"/>
            <a:ext cx="48806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Mute Toggle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677025" y="3048892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simple boolean flip operation.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066800" y="370046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104900" y="3700462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Get Current Volume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066800" y="414813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104900" y="41481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Add/Subtract Step (5%)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066800" y="459581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104900" y="4595812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Clamp value between 0% and 100%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066800" y="504348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104900" y="504348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Set new Scalar Volume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877050" y="354419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915150" y="3544192"/>
            <a:ext cx="4410075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Get </a:t>
            </a:r>
            <a:r>
              <a:rPr b="0" i="0" lang="en-US" sz="15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vol.GetMute()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877050" y="399945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915150" y="3999458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New State = NOT Old State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877050" y="4447133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915150" y="4447133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Set Mute (1 or 0)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877050" y="4894808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915150" y="4894808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Update GUI Color to Red/Blue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Functionalities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544450" y="3161975"/>
            <a:ext cx="6030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Windows core APIs</a:t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6900" y="4175247"/>
            <a:ext cx="8507999" cy="2288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18"/>
          <p:cNvGraphicFramePr/>
          <p:nvPr/>
        </p:nvGraphicFramePr>
        <p:xfrm>
          <a:off x="1036250" y="120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{B3BCF421-F7A2-4F64-90C6-816AC9B96794}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Constant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Value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eRender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speakers/headphones (output)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0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eCapture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</a:rPr>
                        <a:t>microphone (input)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</a:rPr>
                        <a:t>1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475" y="4941150"/>
            <a:ext cx="102108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4325" y="636000"/>
            <a:ext cx="678180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6125" y="5383725"/>
            <a:ext cx="61150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9388" y="410150"/>
            <a:ext cx="7553325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8813" y="4480025"/>
            <a:ext cx="6848475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0250" y="418575"/>
            <a:ext cx="670560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1756" y="4438124"/>
            <a:ext cx="5830369" cy="222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7863" y="666675"/>
            <a:ext cx="9134475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1727600" y="219825"/>
            <a:ext cx="9444300" cy="71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= default_device.Activate(...)</a:t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volume = cast(raw, POINTER(IAudioEndpointVolume))</a:t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-US" sz="11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SetMasterVolumeLevelScalar()</a:t>
            </a:r>
            <a:br>
              <a:rPr lang="en-US" sz="11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-US" sz="11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GetMasterVolumeLevelScalar()</a:t>
            </a:r>
            <a:br>
              <a:rPr lang="en-US" sz="11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-US" sz="11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GetMute()</a:t>
            </a:r>
            <a:br>
              <a:rPr lang="en-US" sz="11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-US" sz="11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SetMute()</a:t>
            </a:r>
            <a:endParaRPr sz="11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volume.GetMasterVolumeLevelScalar()</a:t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volume.SetMasterVolumeLevelScalar()</a:t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volume.GetMute()</a:t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volume.SetMute()</a:t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0741" y="-52350"/>
            <a:ext cx="8930967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2559" y="0"/>
            <a:ext cx="882688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675" y="1290638"/>
            <a:ext cx="10534650" cy="4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913" y="514350"/>
            <a:ext cx="10544175" cy="58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113" y="290513"/>
            <a:ext cx="10391775" cy="62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9"/>
          <p:cNvSpPr txBox="1"/>
          <p:nvPr/>
        </p:nvSpPr>
        <p:spPr>
          <a:xfrm>
            <a:off x="4271850" y="2596600"/>
            <a:ext cx="6030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00FFFF"/>
                </a:solidFill>
                <a:latin typeface="Caveat"/>
                <a:ea typeface="Caveat"/>
                <a:cs typeface="Caveat"/>
                <a:sym typeface="Caveat"/>
              </a:rPr>
              <a:t>Thank You</a:t>
            </a:r>
            <a:endParaRPr sz="7000">
              <a:solidFill>
                <a:srgbClr val="00FF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